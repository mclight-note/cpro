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1"/>
  </p:handoutMasterIdLst>
  <p:sldIdLst>
    <p:sldId id="330" r:id="rId3"/>
    <p:sldId id="328" r:id="rId4"/>
    <p:sldId id="353" r:id="rId6"/>
    <p:sldId id="354" r:id="rId7"/>
    <p:sldId id="355" r:id="rId8"/>
    <p:sldId id="357" r:id="rId9"/>
    <p:sldId id="329" r:id="rId10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B6D"/>
    <a:srgbClr val="1D4E89"/>
    <a:srgbClr val="EEF2F5"/>
    <a:srgbClr val="F6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33" y="91"/>
      </p:cViewPr>
      <p:guideLst>
        <p:guide orient="horz" pos="1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condition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"/>
            <a:ext cx="9144000" cy="117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"/>
            <a:ext cx="9144000" cy="117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0" y="1079391"/>
            <a:ext cx="3155795" cy="18871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3256156" y="1059366"/>
            <a:ext cx="3311912" cy="191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4817327" y="3047070"/>
            <a:ext cx="4326673" cy="192637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3047071"/>
            <a:ext cx="4672361" cy="191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679581" y="1068240"/>
            <a:ext cx="2464419" cy="18871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"/>
            <a:ext cx="9144000" cy="117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0" y="1257810"/>
            <a:ext cx="4572000" cy="18871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3" name="矩形 2"/>
          <p:cNvSpPr/>
          <p:nvPr userDrawn="1"/>
        </p:nvSpPr>
        <p:spPr>
          <a:xfrm>
            <a:off x="4572000" y="1257810"/>
            <a:ext cx="4572000" cy="18871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"/>
            <a:ext cx="9144000" cy="117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112294" y="1350977"/>
            <a:ext cx="2181726" cy="15254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2358189" y="1350976"/>
            <a:ext cx="2181726" cy="15254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604084" y="1350976"/>
            <a:ext cx="2181726" cy="15254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6849979" y="1350975"/>
            <a:ext cx="2181726" cy="15254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B13F87CF-3569-4A6D-ABE9-80B564D3A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E431EDE2-ED55-47B1-BF0C-0EF98048EB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/>
        </p:nvSpPr>
        <p:spPr>
          <a:xfrm rot="10800000">
            <a:off x="0" y="0"/>
            <a:ext cx="9144000" cy="3992136"/>
          </a:xfrm>
          <a:custGeom>
            <a:avLst/>
            <a:gdLst>
              <a:gd name="connsiteX0" fmla="*/ 9144000 w 9144000"/>
              <a:gd name="connsiteY0" fmla="*/ 3992136 h 3992136"/>
              <a:gd name="connsiteX1" fmla="*/ 0 w 9144000"/>
              <a:gd name="connsiteY1" fmla="*/ 3992136 h 3992136"/>
              <a:gd name="connsiteX2" fmla="*/ 0 w 9144000"/>
              <a:gd name="connsiteY2" fmla="*/ 379141 h 3992136"/>
              <a:gd name="connsiteX3" fmla="*/ 4301185 w 9144000"/>
              <a:gd name="connsiteY3" fmla="*/ 379141 h 3992136"/>
              <a:gd name="connsiteX4" fmla="*/ 4572001 w 9144000"/>
              <a:gd name="connsiteY4" fmla="*/ 0 h 3992136"/>
              <a:gd name="connsiteX5" fmla="*/ 4842816 w 9144000"/>
              <a:gd name="connsiteY5" fmla="*/ 379141 h 3992136"/>
              <a:gd name="connsiteX6" fmla="*/ 9144000 w 9144000"/>
              <a:gd name="connsiteY6" fmla="*/ 379141 h 399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3992136">
                <a:moveTo>
                  <a:pt x="9144000" y="3992136"/>
                </a:moveTo>
                <a:lnTo>
                  <a:pt x="0" y="3992136"/>
                </a:lnTo>
                <a:lnTo>
                  <a:pt x="0" y="379141"/>
                </a:lnTo>
                <a:lnTo>
                  <a:pt x="4301185" y="379141"/>
                </a:lnTo>
                <a:lnTo>
                  <a:pt x="4572001" y="0"/>
                </a:lnTo>
                <a:lnTo>
                  <a:pt x="4842816" y="379141"/>
                </a:lnTo>
                <a:lnTo>
                  <a:pt x="9144000" y="37914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125346" y="2162234"/>
            <a:ext cx="489331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Write a program using c# to print the</a:t>
            </a:r>
            <a:endParaRPr kumimoji="0" lang="en-US" altLang="en-US" sz="2000" b="1" i="0" u="none" strike="noStrike" kern="1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first n natural numbers using recursion</a:t>
            </a:r>
            <a:endParaRPr kumimoji="0" lang="en-US" altLang="en-US" sz="2000" b="1" i="0" u="none" strike="noStrike" kern="1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465776" y="3213149"/>
            <a:ext cx="24446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893848" y="651943"/>
            <a:ext cx="1356304" cy="1356304"/>
            <a:chOff x="3893848" y="1276412"/>
            <a:chExt cx="1356304" cy="1356304"/>
          </a:xfrm>
        </p:grpSpPr>
        <p:sp>
          <p:nvSpPr>
            <p:cNvPr id="3" name="椭圆 2"/>
            <p:cNvSpPr/>
            <p:nvPr/>
          </p:nvSpPr>
          <p:spPr>
            <a:xfrm>
              <a:off x="3893848" y="1276412"/>
              <a:ext cx="1356304" cy="1356304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31" name="Freeform 5"/>
            <p:cNvSpPr>
              <a:spLocks noEditPoints="1"/>
            </p:cNvSpPr>
            <p:nvPr/>
          </p:nvSpPr>
          <p:spPr bwMode="auto">
            <a:xfrm>
              <a:off x="4008813" y="1508646"/>
              <a:ext cx="1126374" cy="827336"/>
            </a:xfrm>
            <a:custGeom>
              <a:avLst/>
              <a:gdLst>
                <a:gd name="T0" fmla="*/ 690 w 702"/>
                <a:gd name="T1" fmla="*/ 144 h 517"/>
                <a:gd name="T2" fmla="*/ 358 w 702"/>
                <a:gd name="T3" fmla="*/ 1 h 517"/>
                <a:gd name="T4" fmla="*/ 351 w 702"/>
                <a:gd name="T5" fmla="*/ 0 h 517"/>
                <a:gd name="T6" fmla="*/ 345 w 702"/>
                <a:gd name="T7" fmla="*/ 1 h 517"/>
                <a:gd name="T8" fmla="*/ 12 w 702"/>
                <a:gd name="T9" fmla="*/ 144 h 517"/>
                <a:gd name="T10" fmla="*/ 0 w 702"/>
                <a:gd name="T11" fmla="*/ 164 h 517"/>
                <a:gd name="T12" fmla="*/ 12 w 702"/>
                <a:gd name="T13" fmla="*/ 183 h 517"/>
                <a:gd name="T14" fmla="*/ 345 w 702"/>
                <a:gd name="T15" fmla="*/ 326 h 517"/>
                <a:gd name="T16" fmla="*/ 358 w 702"/>
                <a:gd name="T17" fmla="*/ 326 h 517"/>
                <a:gd name="T18" fmla="*/ 616 w 702"/>
                <a:gd name="T19" fmla="*/ 215 h 517"/>
                <a:gd name="T20" fmla="*/ 616 w 702"/>
                <a:gd name="T21" fmla="*/ 329 h 517"/>
                <a:gd name="T22" fmla="*/ 593 w 702"/>
                <a:gd name="T23" fmla="*/ 370 h 517"/>
                <a:gd name="T24" fmla="*/ 616 w 702"/>
                <a:gd name="T25" fmla="*/ 412 h 517"/>
                <a:gd name="T26" fmla="*/ 616 w 702"/>
                <a:gd name="T27" fmla="*/ 452 h 517"/>
                <a:gd name="T28" fmla="*/ 650 w 702"/>
                <a:gd name="T29" fmla="*/ 452 h 517"/>
                <a:gd name="T30" fmla="*/ 650 w 702"/>
                <a:gd name="T31" fmla="*/ 412 h 517"/>
                <a:gd name="T32" fmla="*/ 674 w 702"/>
                <a:gd name="T33" fmla="*/ 370 h 517"/>
                <a:gd name="T34" fmla="*/ 650 w 702"/>
                <a:gd name="T35" fmla="*/ 329 h 517"/>
                <a:gd name="T36" fmla="*/ 650 w 702"/>
                <a:gd name="T37" fmla="*/ 200 h 517"/>
                <a:gd name="T38" fmla="*/ 690 w 702"/>
                <a:gd name="T39" fmla="*/ 183 h 517"/>
                <a:gd name="T40" fmla="*/ 702 w 702"/>
                <a:gd name="T41" fmla="*/ 164 h 517"/>
                <a:gd name="T42" fmla="*/ 690 w 702"/>
                <a:gd name="T43" fmla="*/ 144 h 517"/>
                <a:gd name="T44" fmla="*/ 351 w 702"/>
                <a:gd name="T45" fmla="*/ 355 h 517"/>
                <a:gd name="T46" fmla="*/ 336 w 702"/>
                <a:gd name="T47" fmla="*/ 352 h 517"/>
                <a:gd name="T48" fmla="*/ 129 w 702"/>
                <a:gd name="T49" fmla="*/ 262 h 517"/>
                <a:gd name="T50" fmla="*/ 129 w 702"/>
                <a:gd name="T51" fmla="*/ 386 h 517"/>
                <a:gd name="T52" fmla="*/ 327 w 702"/>
                <a:gd name="T53" fmla="*/ 517 h 517"/>
                <a:gd name="T54" fmla="*/ 375 w 702"/>
                <a:gd name="T55" fmla="*/ 517 h 517"/>
                <a:gd name="T56" fmla="*/ 574 w 702"/>
                <a:gd name="T57" fmla="*/ 386 h 517"/>
                <a:gd name="T58" fmla="*/ 574 w 702"/>
                <a:gd name="T59" fmla="*/ 262 h 517"/>
                <a:gd name="T60" fmla="*/ 366 w 702"/>
                <a:gd name="T61" fmla="*/ 352 h 517"/>
                <a:gd name="T62" fmla="*/ 351 w 702"/>
                <a:gd name="T63" fmla="*/ 355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02" h="517">
                  <a:moveTo>
                    <a:pt x="690" y="144"/>
                  </a:moveTo>
                  <a:cubicBezTo>
                    <a:pt x="358" y="1"/>
                    <a:pt x="358" y="1"/>
                    <a:pt x="358" y="1"/>
                  </a:cubicBezTo>
                  <a:cubicBezTo>
                    <a:pt x="356" y="0"/>
                    <a:pt x="353" y="0"/>
                    <a:pt x="351" y="0"/>
                  </a:cubicBezTo>
                  <a:cubicBezTo>
                    <a:pt x="349" y="0"/>
                    <a:pt x="347" y="0"/>
                    <a:pt x="345" y="1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5" y="147"/>
                    <a:pt x="0" y="155"/>
                    <a:pt x="0" y="164"/>
                  </a:cubicBezTo>
                  <a:cubicBezTo>
                    <a:pt x="0" y="172"/>
                    <a:pt x="5" y="180"/>
                    <a:pt x="12" y="183"/>
                  </a:cubicBezTo>
                  <a:cubicBezTo>
                    <a:pt x="345" y="326"/>
                    <a:pt x="345" y="326"/>
                    <a:pt x="345" y="326"/>
                  </a:cubicBezTo>
                  <a:cubicBezTo>
                    <a:pt x="349" y="328"/>
                    <a:pt x="354" y="328"/>
                    <a:pt x="358" y="326"/>
                  </a:cubicBezTo>
                  <a:cubicBezTo>
                    <a:pt x="616" y="215"/>
                    <a:pt x="616" y="215"/>
                    <a:pt x="616" y="215"/>
                  </a:cubicBezTo>
                  <a:cubicBezTo>
                    <a:pt x="616" y="329"/>
                    <a:pt x="616" y="329"/>
                    <a:pt x="616" y="329"/>
                  </a:cubicBezTo>
                  <a:cubicBezTo>
                    <a:pt x="602" y="336"/>
                    <a:pt x="593" y="352"/>
                    <a:pt x="593" y="370"/>
                  </a:cubicBezTo>
                  <a:cubicBezTo>
                    <a:pt x="593" y="389"/>
                    <a:pt x="602" y="405"/>
                    <a:pt x="616" y="412"/>
                  </a:cubicBezTo>
                  <a:cubicBezTo>
                    <a:pt x="616" y="452"/>
                    <a:pt x="616" y="452"/>
                    <a:pt x="616" y="452"/>
                  </a:cubicBezTo>
                  <a:cubicBezTo>
                    <a:pt x="650" y="452"/>
                    <a:pt x="650" y="452"/>
                    <a:pt x="650" y="452"/>
                  </a:cubicBezTo>
                  <a:cubicBezTo>
                    <a:pt x="650" y="412"/>
                    <a:pt x="650" y="412"/>
                    <a:pt x="650" y="412"/>
                  </a:cubicBezTo>
                  <a:cubicBezTo>
                    <a:pt x="664" y="405"/>
                    <a:pt x="674" y="389"/>
                    <a:pt x="674" y="370"/>
                  </a:cubicBezTo>
                  <a:cubicBezTo>
                    <a:pt x="674" y="352"/>
                    <a:pt x="664" y="336"/>
                    <a:pt x="650" y="329"/>
                  </a:cubicBezTo>
                  <a:cubicBezTo>
                    <a:pt x="650" y="200"/>
                    <a:pt x="650" y="200"/>
                    <a:pt x="650" y="200"/>
                  </a:cubicBezTo>
                  <a:cubicBezTo>
                    <a:pt x="690" y="183"/>
                    <a:pt x="690" y="183"/>
                    <a:pt x="690" y="183"/>
                  </a:cubicBezTo>
                  <a:cubicBezTo>
                    <a:pt x="697" y="180"/>
                    <a:pt x="702" y="172"/>
                    <a:pt x="702" y="164"/>
                  </a:cubicBezTo>
                  <a:cubicBezTo>
                    <a:pt x="702" y="155"/>
                    <a:pt x="697" y="147"/>
                    <a:pt x="690" y="144"/>
                  </a:cubicBezTo>
                  <a:close/>
                  <a:moveTo>
                    <a:pt x="351" y="355"/>
                  </a:moveTo>
                  <a:cubicBezTo>
                    <a:pt x="346" y="355"/>
                    <a:pt x="341" y="354"/>
                    <a:pt x="336" y="352"/>
                  </a:cubicBezTo>
                  <a:cubicBezTo>
                    <a:pt x="129" y="262"/>
                    <a:pt x="129" y="262"/>
                    <a:pt x="129" y="262"/>
                  </a:cubicBezTo>
                  <a:cubicBezTo>
                    <a:pt x="129" y="386"/>
                    <a:pt x="129" y="386"/>
                    <a:pt x="129" y="386"/>
                  </a:cubicBezTo>
                  <a:cubicBezTo>
                    <a:pt x="129" y="487"/>
                    <a:pt x="280" y="517"/>
                    <a:pt x="327" y="517"/>
                  </a:cubicBezTo>
                  <a:cubicBezTo>
                    <a:pt x="375" y="517"/>
                    <a:pt x="375" y="517"/>
                    <a:pt x="375" y="517"/>
                  </a:cubicBezTo>
                  <a:cubicBezTo>
                    <a:pt x="410" y="517"/>
                    <a:pt x="574" y="487"/>
                    <a:pt x="574" y="386"/>
                  </a:cubicBezTo>
                  <a:cubicBezTo>
                    <a:pt x="574" y="262"/>
                    <a:pt x="574" y="262"/>
                    <a:pt x="574" y="262"/>
                  </a:cubicBezTo>
                  <a:cubicBezTo>
                    <a:pt x="366" y="352"/>
                    <a:pt x="366" y="352"/>
                    <a:pt x="366" y="352"/>
                  </a:cubicBezTo>
                  <a:cubicBezTo>
                    <a:pt x="361" y="354"/>
                    <a:pt x="356" y="355"/>
                    <a:pt x="351" y="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31470" y="4737735"/>
            <a:ext cx="8470265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Respondent student:</a:t>
            </a:r>
            <a:r>
              <a:rPr kumimoji="0" lang="en-US" altLang="zh-CN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 Shukirillaev Mukhammadsodik   </a:t>
            </a: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 I</a:t>
            </a:r>
            <a:r>
              <a:rPr kumimoji="0" lang="en-US" altLang="zh-CN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D:202438379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757670" y="487743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" b="765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3360" y="263979"/>
            <a:ext cx="8717280" cy="4615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80915" y="986155"/>
            <a:ext cx="400812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l"/>
            <a:r>
              <a:rPr lang="en-US" altLang="en-US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Recursion is a programming technique where a method calls itself to solve a smaller version of the same problem</a:t>
            </a:r>
            <a:endParaRPr lang="en-US" altLang="en-US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indent="457200" algn="l"/>
            <a:endParaRPr lang="en-US" altLang="en-US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indent="457200" algn="l"/>
            <a:r>
              <a:rPr lang="en-US" altLang="en-US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It continues calling itself until it reaches a base case: a condition that stops the recursion</a:t>
            </a:r>
            <a:endParaRPr lang="en-US" altLang="en-US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pic>
        <p:nvPicPr>
          <p:cNvPr id="4" name="Picture 3" descr="Screenshot 2025-11-07 at 11.10.1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0990"/>
            <a:ext cx="4267200" cy="4498975"/>
          </a:xfrm>
          <a:prstGeom prst="rect">
            <a:avLst/>
          </a:prstGeom>
        </p:spPr>
      </p:pic>
      <p:pic>
        <p:nvPicPr>
          <p:cNvPr id="5" name="Picture 4" descr="Screenshot 2025-11-07 at 11.10.17 AM"/>
          <p:cNvPicPr>
            <a:picLocks noChangeAspect="1"/>
          </p:cNvPicPr>
          <p:nvPr/>
        </p:nvPicPr>
        <p:blipFill>
          <a:blip r:embed="rId3"/>
          <a:srcRect l="14775" t="32803"/>
          <a:stretch>
            <a:fillRect/>
          </a:stretch>
        </p:blipFill>
        <p:spPr>
          <a:xfrm>
            <a:off x="5320030" y="3439160"/>
            <a:ext cx="2728595" cy="1240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" b="765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3360" y="263979"/>
            <a:ext cx="8717280" cy="4615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43450" y="1944370"/>
            <a:ext cx="3929380" cy="12122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indent="457200" algn="l"/>
            <a:r>
              <a:rPr lang="en-US" altLang="en-US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The function’s return type is</a:t>
            </a:r>
            <a:endParaRPr lang="en-US" altLang="en-US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indent="457200" algn="l"/>
            <a:r>
              <a:rPr lang="en-US" altLang="en-US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void, meaning it does not</a:t>
            </a:r>
            <a:endParaRPr lang="en-US" altLang="en-US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indent="457200" algn="l"/>
            <a:r>
              <a:rPr lang="en-US" altLang="en-US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return any value.</a:t>
            </a:r>
            <a:endParaRPr lang="en-US" altLang="en-US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pic>
        <p:nvPicPr>
          <p:cNvPr id="4" name="Picture 3" descr="Screenshot 2025-11-07 at 11.10.1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0990"/>
            <a:ext cx="4267200" cy="4498975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927100" y="3024505"/>
            <a:ext cx="2411730" cy="14903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" b="765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3360" y="263979"/>
            <a:ext cx="8717280" cy="4615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31883" y="1245162"/>
            <a:ext cx="42532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What if the condition is not deifined?</a:t>
            </a:r>
            <a:endParaRPr lang="en-US" altLang="zh-CN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pic>
        <p:nvPicPr>
          <p:cNvPr id="3" name="Picture 2" descr="Screenshot 2025-11-07 at 11.11.02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0" y="2118360"/>
            <a:ext cx="3306445" cy="2475230"/>
          </a:xfrm>
          <a:prstGeom prst="rect">
            <a:avLst/>
          </a:prstGeom>
        </p:spPr>
      </p:pic>
      <p:pic>
        <p:nvPicPr>
          <p:cNvPr id="5" name="Picture 4" descr="Screenshot 2025-11-07 at 11.22.36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" y="283210"/>
            <a:ext cx="4258310" cy="4522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" b="765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3360" y="263979"/>
            <a:ext cx="8717280" cy="4615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53878" y="1354382"/>
            <a:ext cx="29197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How about big numbers?</a:t>
            </a:r>
            <a:endParaRPr lang="en-US" altLang="zh-CN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pic>
        <p:nvPicPr>
          <p:cNvPr id="3" name="Picture 2" descr="Screenshot 2025-11-07 at 11.13.09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" y="317500"/>
            <a:ext cx="4260850" cy="4479290"/>
          </a:xfrm>
          <a:prstGeom prst="rect">
            <a:avLst/>
          </a:prstGeom>
        </p:spPr>
      </p:pic>
      <p:pic>
        <p:nvPicPr>
          <p:cNvPr id="4" name="Picture 3" descr="Screenshot 2025-11-07 at 11.13.22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655" y="2430780"/>
            <a:ext cx="3653790" cy="2069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" b="765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3360" y="263979"/>
            <a:ext cx="8717280" cy="4615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10660" y="2331647"/>
            <a:ext cx="360616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Question: What does the return</a:t>
            </a:r>
            <a:endParaRPr lang="en-US" altLang="zh-CN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algn="ctr"/>
            <a:r>
              <a:rPr lang="en-US" altLang="zh-CN" b="1" kern="1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is returning in this case?</a:t>
            </a:r>
            <a:endParaRPr lang="en-US" altLang="zh-CN" b="1" kern="1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pic>
        <p:nvPicPr>
          <p:cNvPr id="5" name="Picture 4" descr="Screenshot 2025-11-07 at 11.28.37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310515"/>
            <a:ext cx="4384040" cy="447802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1550035" y="3576955"/>
            <a:ext cx="565150" cy="25590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/>
        </p:nvSpPr>
        <p:spPr>
          <a:xfrm rot="10800000">
            <a:off x="0" y="0"/>
            <a:ext cx="9144000" cy="3992136"/>
          </a:xfrm>
          <a:custGeom>
            <a:avLst/>
            <a:gdLst>
              <a:gd name="connsiteX0" fmla="*/ 9144000 w 9144000"/>
              <a:gd name="connsiteY0" fmla="*/ 3992136 h 3992136"/>
              <a:gd name="connsiteX1" fmla="*/ 0 w 9144000"/>
              <a:gd name="connsiteY1" fmla="*/ 3992136 h 3992136"/>
              <a:gd name="connsiteX2" fmla="*/ 0 w 9144000"/>
              <a:gd name="connsiteY2" fmla="*/ 379141 h 3992136"/>
              <a:gd name="connsiteX3" fmla="*/ 4301185 w 9144000"/>
              <a:gd name="connsiteY3" fmla="*/ 379141 h 3992136"/>
              <a:gd name="connsiteX4" fmla="*/ 4572001 w 9144000"/>
              <a:gd name="connsiteY4" fmla="*/ 0 h 3992136"/>
              <a:gd name="connsiteX5" fmla="*/ 4842816 w 9144000"/>
              <a:gd name="connsiteY5" fmla="*/ 379141 h 3992136"/>
              <a:gd name="connsiteX6" fmla="*/ 9144000 w 9144000"/>
              <a:gd name="connsiteY6" fmla="*/ 379141 h 399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3992136">
                <a:moveTo>
                  <a:pt x="9144000" y="3992136"/>
                </a:moveTo>
                <a:lnTo>
                  <a:pt x="0" y="3992136"/>
                </a:lnTo>
                <a:lnTo>
                  <a:pt x="0" y="379141"/>
                </a:lnTo>
                <a:lnTo>
                  <a:pt x="4301185" y="379141"/>
                </a:lnTo>
                <a:lnTo>
                  <a:pt x="4572001" y="0"/>
                </a:lnTo>
                <a:lnTo>
                  <a:pt x="4842816" y="379141"/>
                </a:lnTo>
                <a:lnTo>
                  <a:pt x="9144000" y="37914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970212" y="2162234"/>
            <a:ext cx="3203575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THANK YOU</a:t>
            </a:r>
            <a:endParaRPr kumimoji="0" lang="zh-CN" altLang="en-US" sz="4000" b="1" i="0" u="none" strike="noStrike" kern="1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465776" y="3213149"/>
            <a:ext cx="24446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893848" y="651943"/>
            <a:ext cx="1356304" cy="1356304"/>
            <a:chOff x="3893848" y="1276412"/>
            <a:chExt cx="1356304" cy="1356304"/>
          </a:xfrm>
        </p:grpSpPr>
        <p:sp>
          <p:nvSpPr>
            <p:cNvPr id="3" name="椭圆 2"/>
            <p:cNvSpPr/>
            <p:nvPr/>
          </p:nvSpPr>
          <p:spPr>
            <a:xfrm>
              <a:off x="3893848" y="1276412"/>
              <a:ext cx="1356304" cy="1356304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31" name="Freeform 5"/>
            <p:cNvSpPr>
              <a:spLocks noEditPoints="1"/>
            </p:cNvSpPr>
            <p:nvPr/>
          </p:nvSpPr>
          <p:spPr bwMode="auto">
            <a:xfrm>
              <a:off x="4008813" y="1508646"/>
              <a:ext cx="1126374" cy="827336"/>
            </a:xfrm>
            <a:custGeom>
              <a:avLst/>
              <a:gdLst>
                <a:gd name="T0" fmla="*/ 690 w 702"/>
                <a:gd name="T1" fmla="*/ 144 h 517"/>
                <a:gd name="T2" fmla="*/ 358 w 702"/>
                <a:gd name="T3" fmla="*/ 1 h 517"/>
                <a:gd name="T4" fmla="*/ 351 w 702"/>
                <a:gd name="T5" fmla="*/ 0 h 517"/>
                <a:gd name="T6" fmla="*/ 345 w 702"/>
                <a:gd name="T7" fmla="*/ 1 h 517"/>
                <a:gd name="T8" fmla="*/ 12 w 702"/>
                <a:gd name="T9" fmla="*/ 144 h 517"/>
                <a:gd name="T10" fmla="*/ 0 w 702"/>
                <a:gd name="T11" fmla="*/ 164 h 517"/>
                <a:gd name="T12" fmla="*/ 12 w 702"/>
                <a:gd name="T13" fmla="*/ 183 h 517"/>
                <a:gd name="T14" fmla="*/ 345 w 702"/>
                <a:gd name="T15" fmla="*/ 326 h 517"/>
                <a:gd name="T16" fmla="*/ 358 w 702"/>
                <a:gd name="T17" fmla="*/ 326 h 517"/>
                <a:gd name="T18" fmla="*/ 616 w 702"/>
                <a:gd name="T19" fmla="*/ 215 h 517"/>
                <a:gd name="T20" fmla="*/ 616 w 702"/>
                <a:gd name="T21" fmla="*/ 329 h 517"/>
                <a:gd name="T22" fmla="*/ 593 w 702"/>
                <a:gd name="T23" fmla="*/ 370 h 517"/>
                <a:gd name="T24" fmla="*/ 616 w 702"/>
                <a:gd name="T25" fmla="*/ 412 h 517"/>
                <a:gd name="T26" fmla="*/ 616 w 702"/>
                <a:gd name="T27" fmla="*/ 452 h 517"/>
                <a:gd name="T28" fmla="*/ 650 w 702"/>
                <a:gd name="T29" fmla="*/ 452 h 517"/>
                <a:gd name="T30" fmla="*/ 650 w 702"/>
                <a:gd name="T31" fmla="*/ 412 h 517"/>
                <a:gd name="T32" fmla="*/ 674 w 702"/>
                <a:gd name="T33" fmla="*/ 370 h 517"/>
                <a:gd name="T34" fmla="*/ 650 w 702"/>
                <a:gd name="T35" fmla="*/ 329 h 517"/>
                <a:gd name="T36" fmla="*/ 650 w 702"/>
                <a:gd name="T37" fmla="*/ 200 h 517"/>
                <a:gd name="T38" fmla="*/ 690 w 702"/>
                <a:gd name="T39" fmla="*/ 183 h 517"/>
                <a:gd name="T40" fmla="*/ 702 w 702"/>
                <a:gd name="T41" fmla="*/ 164 h 517"/>
                <a:gd name="T42" fmla="*/ 690 w 702"/>
                <a:gd name="T43" fmla="*/ 144 h 517"/>
                <a:gd name="T44" fmla="*/ 351 w 702"/>
                <a:gd name="T45" fmla="*/ 355 h 517"/>
                <a:gd name="T46" fmla="*/ 336 w 702"/>
                <a:gd name="T47" fmla="*/ 352 h 517"/>
                <a:gd name="T48" fmla="*/ 129 w 702"/>
                <a:gd name="T49" fmla="*/ 262 h 517"/>
                <a:gd name="T50" fmla="*/ 129 w 702"/>
                <a:gd name="T51" fmla="*/ 386 h 517"/>
                <a:gd name="T52" fmla="*/ 327 w 702"/>
                <a:gd name="T53" fmla="*/ 517 h 517"/>
                <a:gd name="T54" fmla="*/ 375 w 702"/>
                <a:gd name="T55" fmla="*/ 517 h 517"/>
                <a:gd name="T56" fmla="*/ 574 w 702"/>
                <a:gd name="T57" fmla="*/ 386 h 517"/>
                <a:gd name="T58" fmla="*/ 574 w 702"/>
                <a:gd name="T59" fmla="*/ 262 h 517"/>
                <a:gd name="T60" fmla="*/ 366 w 702"/>
                <a:gd name="T61" fmla="*/ 352 h 517"/>
                <a:gd name="T62" fmla="*/ 351 w 702"/>
                <a:gd name="T63" fmla="*/ 355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02" h="517">
                  <a:moveTo>
                    <a:pt x="690" y="144"/>
                  </a:moveTo>
                  <a:cubicBezTo>
                    <a:pt x="358" y="1"/>
                    <a:pt x="358" y="1"/>
                    <a:pt x="358" y="1"/>
                  </a:cubicBezTo>
                  <a:cubicBezTo>
                    <a:pt x="356" y="0"/>
                    <a:pt x="353" y="0"/>
                    <a:pt x="351" y="0"/>
                  </a:cubicBezTo>
                  <a:cubicBezTo>
                    <a:pt x="349" y="0"/>
                    <a:pt x="347" y="0"/>
                    <a:pt x="345" y="1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5" y="147"/>
                    <a:pt x="0" y="155"/>
                    <a:pt x="0" y="164"/>
                  </a:cubicBezTo>
                  <a:cubicBezTo>
                    <a:pt x="0" y="172"/>
                    <a:pt x="5" y="180"/>
                    <a:pt x="12" y="183"/>
                  </a:cubicBezTo>
                  <a:cubicBezTo>
                    <a:pt x="345" y="326"/>
                    <a:pt x="345" y="326"/>
                    <a:pt x="345" y="326"/>
                  </a:cubicBezTo>
                  <a:cubicBezTo>
                    <a:pt x="349" y="328"/>
                    <a:pt x="354" y="328"/>
                    <a:pt x="358" y="326"/>
                  </a:cubicBezTo>
                  <a:cubicBezTo>
                    <a:pt x="616" y="215"/>
                    <a:pt x="616" y="215"/>
                    <a:pt x="616" y="215"/>
                  </a:cubicBezTo>
                  <a:cubicBezTo>
                    <a:pt x="616" y="329"/>
                    <a:pt x="616" y="329"/>
                    <a:pt x="616" y="329"/>
                  </a:cubicBezTo>
                  <a:cubicBezTo>
                    <a:pt x="602" y="336"/>
                    <a:pt x="593" y="352"/>
                    <a:pt x="593" y="370"/>
                  </a:cubicBezTo>
                  <a:cubicBezTo>
                    <a:pt x="593" y="389"/>
                    <a:pt x="602" y="405"/>
                    <a:pt x="616" y="412"/>
                  </a:cubicBezTo>
                  <a:cubicBezTo>
                    <a:pt x="616" y="452"/>
                    <a:pt x="616" y="452"/>
                    <a:pt x="616" y="452"/>
                  </a:cubicBezTo>
                  <a:cubicBezTo>
                    <a:pt x="650" y="452"/>
                    <a:pt x="650" y="452"/>
                    <a:pt x="650" y="452"/>
                  </a:cubicBezTo>
                  <a:cubicBezTo>
                    <a:pt x="650" y="412"/>
                    <a:pt x="650" y="412"/>
                    <a:pt x="650" y="412"/>
                  </a:cubicBezTo>
                  <a:cubicBezTo>
                    <a:pt x="664" y="405"/>
                    <a:pt x="674" y="389"/>
                    <a:pt x="674" y="370"/>
                  </a:cubicBezTo>
                  <a:cubicBezTo>
                    <a:pt x="674" y="352"/>
                    <a:pt x="664" y="336"/>
                    <a:pt x="650" y="329"/>
                  </a:cubicBezTo>
                  <a:cubicBezTo>
                    <a:pt x="650" y="200"/>
                    <a:pt x="650" y="200"/>
                    <a:pt x="650" y="200"/>
                  </a:cubicBezTo>
                  <a:cubicBezTo>
                    <a:pt x="690" y="183"/>
                    <a:pt x="690" y="183"/>
                    <a:pt x="690" y="183"/>
                  </a:cubicBezTo>
                  <a:cubicBezTo>
                    <a:pt x="697" y="180"/>
                    <a:pt x="702" y="172"/>
                    <a:pt x="702" y="164"/>
                  </a:cubicBezTo>
                  <a:cubicBezTo>
                    <a:pt x="702" y="155"/>
                    <a:pt x="697" y="147"/>
                    <a:pt x="690" y="144"/>
                  </a:cubicBezTo>
                  <a:close/>
                  <a:moveTo>
                    <a:pt x="351" y="355"/>
                  </a:moveTo>
                  <a:cubicBezTo>
                    <a:pt x="346" y="355"/>
                    <a:pt x="341" y="354"/>
                    <a:pt x="336" y="352"/>
                  </a:cubicBezTo>
                  <a:cubicBezTo>
                    <a:pt x="129" y="262"/>
                    <a:pt x="129" y="262"/>
                    <a:pt x="129" y="262"/>
                  </a:cubicBezTo>
                  <a:cubicBezTo>
                    <a:pt x="129" y="386"/>
                    <a:pt x="129" y="386"/>
                    <a:pt x="129" y="386"/>
                  </a:cubicBezTo>
                  <a:cubicBezTo>
                    <a:pt x="129" y="487"/>
                    <a:pt x="280" y="517"/>
                    <a:pt x="327" y="517"/>
                  </a:cubicBezTo>
                  <a:cubicBezTo>
                    <a:pt x="375" y="517"/>
                    <a:pt x="375" y="517"/>
                    <a:pt x="375" y="517"/>
                  </a:cubicBezTo>
                  <a:cubicBezTo>
                    <a:pt x="410" y="517"/>
                    <a:pt x="574" y="487"/>
                    <a:pt x="574" y="386"/>
                  </a:cubicBezTo>
                  <a:cubicBezTo>
                    <a:pt x="574" y="262"/>
                    <a:pt x="574" y="262"/>
                    <a:pt x="574" y="262"/>
                  </a:cubicBezTo>
                  <a:cubicBezTo>
                    <a:pt x="366" y="352"/>
                    <a:pt x="366" y="352"/>
                    <a:pt x="366" y="352"/>
                  </a:cubicBezTo>
                  <a:cubicBezTo>
                    <a:pt x="361" y="354"/>
                    <a:pt x="356" y="355"/>
                    <a:pt x="351" y="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</p:grpSp>
      <p:sp>
        <p:nvSpPr>
          <p:cNvPr id="5" name="矩形 12"/>
          <p:cNvSpPr/>
          <p:nvPr/>
        </p:nvSpPr>
        <p:spPr>
          <a:xfrm>
            <a:off x="331470" y="4737735"/>
            <a:ext cx="8470265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Respondent student:</a:t>
            </a:r>
            <a:r>
              <a:rPr kumimoji="0" lang="en-US" altLang="zh-CN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 Shukirillaev Mukhammadsodik   </a:t>
            </a: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 I</a:t>
            </a:r>
            <a:r>
              <a:rPr kumimoji="0" lang="en-US" altLang="zh-CN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D:202438379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c733616-6340-4497-9593-42f2bdf4ffc4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2经典蓝配色方案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0F4C82"/>
      </a:accent1>
      <a:accent2>
        <a:srgbClr val="B3C6D5"/>
      </a:accent2>
      <a:accent3>
        <a:srgbClr val="F7B793"/>
      </a:accent3>
      <a:accent4>
        <a:srgbClr val="F4DBB2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5-3">
      <a:majorFont>
        <a:latin typeface="Open Sans"/>
        <a:ea typeface="Open Sans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WPS Presentation</Application>
  <PresentationFormat>全屏显示(16:9)</PresentationFormat>
  <Paragraphs>24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Open Sans</vt:lpstr>
      <vt:lpstr>苹方-简</vt:lpstr>
      <vt:lpstr>Open Sans Light</vt:lpstr>
      <vt:lpstr>Calibri Light</vt:lpstr>
      <vt:lpstr>方正宋刻本秀楷简体</vt:lpstr>
      <vt:lpstr>Helvetica Neue</vt:lpstr>
      <vt:lpstr>宋体-简</vt:lpstr>
      <vt:lpstr>Calibri</vt:lpstr>
      <vt:lpstr>SimSun</vt:lpstr>
      <vt:lpstr>Microsoft YaHei</vt:lpstr>
      <vt:lpstr>汉仪旗黑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Muhammadsodiq Shukurillayev</cp:lastModifiedBy>
  <cp:revision>200</cp:revision>
  <dcterms:created xsi:type="dcterms:W3CDTF">2025-11-07T02:29:47Z</dcterms:created>
  <dcterms:modified xsi:type="dcterms:W3CDTF">2025-11-07T02:29:47Z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1033-12.1.23143.23143</vt:lpwstr>
  </property>
  <property fmtid="{D5CDD505-2E9C-101B-9397-08002B2CF9AE}" pid="3" name="ICV">
    <vt:lpwstr>7571CD20A1F505EFE0540D69E508C7D1_41</vt:lpwstr>
  </property>
</Properties>
</file>